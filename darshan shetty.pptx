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5" r:id="rId13"/>
    <p:sldId id="270" r:id="rId14"/>
  </p:sldIdLst>
  <p:sldSz cx="14630400" cy="8229600"/>
  <p:notesSz cx="8229600" cy="14630400"/>
  <p:embeddedFontLst>
    <p:embeddedFont>
      <p:font typeface="Algerian" panose="04020705040A02060702" pitchFamily="82" charset="0"/>
      <p:regular r:id="rId16"/>
    </p:embeddedFont>
    <p:embeddedFont>
      <p:font typeface="Merriweather" panose="00000500000000000000" pitchFamily="2" charset="0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3246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1394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5083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11972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48785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5389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6103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2954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1566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3366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9874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9938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322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2009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051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437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557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7671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560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9314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9031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1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7906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51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7" y="590861"/>
            <a:ext cx="7416403" cy="231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Diabetic Retinopathy Detection Using Deep Learning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50196" y="3017985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Retinal Image Classification Approach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5" y="3880444"/>
            <a:ext cx="7416403" cy="132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Presented By : Darshan Shetty R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                            2</a:t>
            </a:r>
            <a:r>
              <a:rPr lang="en-US" sz="1900" baseline="30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nd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MCA 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                            P05AZ23S126006</a:t>
            </a:r>
            <a:endParaRPr lang="en-US" sz="1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D080FC-DF76-2EDB-55AE-753EBD36554F}"/>
              </a:ext>
            </a:extLst>
          </p:cNvPr>
          <p:cNvSpPr txBox="1"/>
          <p:nvPr/>
        </p:nvSpPr>
        <p:spPr>
          <a:xfrm>
            <a:off x="6350195" y="5630589"/>
            <a:ext cx="7315200" cy="12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Guided</a:t>
            </a: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By</a:t>
            </a: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: </a:t>
            </a: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Dr. B.H Shekar</a:t>
            </a:r>
            <a:endParaRPr lang="en-US" sz="18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31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                      </a:t>
            </a: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Professor in Computer Science</a:t>
            </a:r>
            <a:endParaRPr lang="en-US" sz="18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31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                            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718661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Introduction to Diabetic Retinopathy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198" y="2631400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52323" y="2716173"/>
            <a:ext cx="2751892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is Diabetic Retinopathy?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152323" y="3635216"/>
            <a:ext cx="2751892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serious eye complication caused by diabetes that can lead to blindness if untreated.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212705" y="2631400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14829" y="2716173"/>
            <a:ext cx="2751892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Importance of Early Detection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1014829" y="3635216"/>
            <a:ext cx="2751892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Early diagnosis is critical to prevent vision loss and enable timely treatment.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198" y="6102906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52323" y="6187678"/>
            <a:ext cx="430244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Role of AI and Deep Learning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152323" y="6721197"/>
            <a:ext cx="6614279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Automated models offer fast, accurate, and scalable screening solutions in medical imaging.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573411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Problem Statement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3798" y="2714863"/>
            <a:ext cx="7416403" cy="1847255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25855" y="2976920"/>
            <a:ext cx="4366617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Manual Diagnosis Challenges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5855" y="3510439"/>
            <a:ext cx="689229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Time-consuming process requiring expert ophthalmologists, limiting screening capacity.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63798" y="4808934"/>
            <a:ext cx="7416403" cy="1847255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5855" y="5070991"/>
            <a:ext cx="3100507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Need for Automation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125855" y="5604510"/>
            <a:ext cx="689229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Scalable and efficient solutions are essential to meet growing screening demands.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598658"/>
            <a:ext cx="8352830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Goals and Objectives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986927"/>
            <a:ext cx="3188732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Deep Learning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619268"/>
            <a:ext cx="615029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 a CNN-based model to classify diabetic retinopathy severity from fundus images.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98692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Clinical Utility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23929" y="4619268"/>
            <a:ext cx="615029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Improve accuracy and speed to support real-world screening and diagnosis processes.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297067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Literature Review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198" y="2438519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52323" y="2523292"/>
            <a:ext cx="2751892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Prior Work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152323" y="3056811"/>
            <a:ext cx="2751892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Models like VGG16, ResNet50, and InceptionV3 have been applied to DR detection.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212705" y="2438519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14829" y="2523292"/>
            <a:ext cx="2751892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Study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1014829" y="3056811"/>
            <a:ext cx="2751892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Kermany et al. (2018) demonstrated promising results using deep learning for retinal diseases.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198" y="5524500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52323" y="5609273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Research Gaps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152323" y="6142792"/>
            <a:ext cx="6614279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Challenges remain with rare class accuracy and reducing false positives in classification.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203847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 Overview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592116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Source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224457"/>
            <a:ext cx="3898940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Kaggle datasets including APTOS and EyePACS with thousands of labeled retinal images.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576" y="3592116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 Severity Classes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2576" y="4224457"/>
            <a:ext cx="3898940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Five classes ranging from 0 (No DR) to 4 (Proliferative DR) to represent disease progression.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592116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81354" y="4224457"/>
            <a:ext cx="3898940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Significant class imbalance affects model training and performance.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301710"/>
            <a:ext cx="6196727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Image Preprocessing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3798" y="2443163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65923" y="2527935"/>
            <a:ext cx="2751892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Resizing and Normalization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65923" y="3446978"/>
            <a:ext cx="2751892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Standardize image dimensions and pixel intensity for consistent input to the model.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726305" y="2443163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28429" y="2527935"/>
            <a:ext cx="2751892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Contrast Enhancement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528429" y="3446978"/>
            <a:ext cx="2751892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Improve visibility of retinal features critical for accurate classification.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3798" y="5519857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65923" y="560462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Augmentation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65923" y="6138148"/>
            <a:ext cx="6614279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Techniques like rotation, flipping, zoom, and brightness adjustments to increase data diversity.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598658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Architecture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98692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CNN Backbone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619268"/>
            <a:ext cx="615029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Utilizes ResNet50 architecture with convolutional, activation, pooling, and dropout layers.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98692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Output Layer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23929" y="4619268"/>
            <a:ext cx="615029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Softmax activation for multi-class classification across five DR severity levels.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85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790593"/>
            <a:ext cx="7180778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Training and Evaluation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3798" y="4932045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65923" y="501681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Training Setup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65923" y="5550337"/>
            <a:ext cx="3293150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Implemented in Python using TensorFlow and Keras with Adam optimizer and categorical crossentropy loss.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67563" y="4932045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69687" y="501681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Evaluation Metrics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69687" y="5550337"/>
            <a:ext cx="3293150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performance assessed using accuracy, F1-score, confusion matrix, and AUC-ROC curves.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671328" y="4932045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73452" y="501681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473452" y="5550337"/>
            <a:ext cx="3293150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Addressed class imbalance, GPU constraints, and overfitting during training.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5721CC0-3E80-06FF-17B8-2682CDFB7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53F93FD-5B88-9287-4D0E-772A78C6BF81}"/>
              </a:ext>
            </a:extLst>
          </p:cNvPr>
          <p:cNvSpPr/>
          <p:nvPr/>
        </p:nvSpPr>
        <p:spPr>
          <a:xfrm>
            <a:off x="6350198" y="1202769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Results Visualization &amp; Model Insights</a:t>
            </a:r>
            <a:endParaRPr lang="en-US" sz="4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D3E2C0B-21D2-FCED-58A0-FE17AA63B619}"/>
              </a:ext>
            </a:extLst>
          </p:cNvPr>
          <p:cNvSpPr/>
          <p:nvPr/>
        </p:nvSpPr>
        <p:spPr>
          <a:xfrm>
            <a:off x="6350198" y="3115508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Accuracy and loss curves reveal training progress</a:t>
            </a:r>
            <a:endParaRPr lang="en-US" sz="19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C9F1ACC-BD54-4CD1-7CCB-891377D7A769}"/>
              </a:ext>
            </a:extLst>
          </p:cNvPr>
          <p:cNvSpPr/>
          <p:nvPr/>
        </p:nvSpPr>
        <p:spPr>
          <a:xfrm>
            <a:off x="6350198" y="3787973"/>
            <a:ext cx="741640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Confusion matrix shows classification strengths and weaknesses</a:t>
            </a:r>
            <a:endParaRPr lang="en-US" sz="1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B339B0A-8BB3-3D94-EFCC-63A4ED780A9D}"/>
              </a:ext>
            </a:extLst>
          </p:cNvPr>
          <p:cNvSpPr/>
          <p:nvPr/>
        </p:nvSpPr>
        <p:spPr>
          <a:xfrm>
            <a:off x="6350198" y="4855250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Sample predictions highlight correct and misclassified cases</a:t>
            </a:r>
            <a:endParaRPr lang="en-US" sz="1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E04CC44-39DB-8243-E4A9-C0D90A72D166}"/>
              </a:ext>
            </a:extLst>
          </p:cNvPr>
          <p:cNvSpPr/>
          <p:nvPr/>
        </p:nvSpPr>
        <p:spPr>
          <a:xfrm>
            <a:off x="6350198" y="5527715"/>
            <a:ext cx="741640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Training trends expose overfitting risks and regularization impact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912306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C47A3E0-3920-7A02-83D9-C41BEC876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1151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74DDFEE-F207-3376-5B70-6960205215CF}"/>
              </a:ext>
            </a:extLst>
          </p:cNvPr>
          <p:cNvSpPr/>
          <p:nvPr/>
        </p:nvSpPr>
        <p:spPr>
          <a:xfrm>
            <a:off x="798790" y="627578"/>
            <a:ext cx="7546419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Challenges, Solutions &amp; References</a:t>
            </a:r>
            <a:endParaRPr lang="en-US" sz="44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6E82726-5370-D141-6234-3215FD72CA1E}"/>
              </a:ext>
            </a:extLst>
          </p:cNvPr>
          <p:cNvSpPr/>
          <p:nvPr/>
        </p:nvSpPr>
        <p:spPr>
          <a:xfrm>
            <a:off x="798790" y="2396252"/>
            <a:ext cx="513517" cy="513517"/>
          </a:xfrm>
          <a:prstGeom prst="roundRect">
            <a:avLst>
              <a:gd name="adj" fmla="val 1866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F7455D7-3FE7-71E8-6818-F325D10A1867}"/>
              </a:ext>
            </a:extLst>
          </p:cNvPr>
          <p:cNvSpPr/>
          <p:nvPr/>
        </p:nvSpPr>
        <p:spPr>
          <a:xfrm>
            <a:off x="1540431" y="2474595"/>
            <a:ext cx="2852857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AC72EF7-6536-39CF-9FD9-7DBFFFCA7C0B}"/>
              </a:ext>
            </a:extLst>
          </p:cNvPr>
          <p:cNvSpPr/>
          <p:nvPr/>
        </p:nvSpPr>
        <p:spPr>
          <a:xfrm>
            <a:off x="1540431" y="2968109"/>
            <a:ext cx="2888933" cy="730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Imbalanced data and poor image quality</a:t>
            </a:r>
            <a:endParaRPr lang="en-US" sz="17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F68DAD2-5CB2-4918-B277-9D11A0BC8074}"/>
              </a:ext>
            </a:extLst>
          </p:cNvPr>
          <p:cNvSpPr/>
          <p:nvPr/>
        </p:nvSpPr>
        <p:spPr>
          <a:xfrm>
            <a:off x="1540431" y="3778210"/>
            <a:ext cx="2888933" cy="730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Limited computational resources</a:t>
            </a:r>
            <a:endParaRPr lang="en-US" sz="17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7021D04-C462-67FC-4A16-36314D2EBB56}"/>
              </a:ext>
            </a:extLst>
          </p:cNvPr>
          <p:cNvSpPr/>
          <p:nvPr/>
        </p:nvSpPr>
        <p:spPr>
          <a:xfrm>
            <a:off x="4714637" y="2396252"/>
            <a:ext cx="513517" cy="513517"/>
          </a:xfrm>
          <a:prstGeom prst="roundRect">
            <a:avLst>
              <a:gd name="adj" fmla="val 1866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19D4EE0-D693-DAF5-7ABC-A79364AB5A3A}"/>
              </a:ext>
            </a:extLst>
          </p:cNvPr>
          <p:cNvSpPr/>
          <p:nvPr/>
        </p:nvSpPr>
        <p:spPr>
          <a:xfrm>
            <a:off x="5456277" y="2474595"/>
            <a:ext cx="2852857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Solutions</a:t>
            </a:r>
            <a:endParaRPr lang="en-US" sz="2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DECFBE9-158B-CD1C-8776-4A4EA10BE3AF}"/>
              </a:ext>
            </a:extLst>
          </p:cNvPr>
          <p:cNvSpPr/>
          <p:nvPr/>
        </p:nvSpPr>
        <p:spPr>
          <a:xfrm>
            <a:off x="5456277" y="2968109"/>
            <a:ext cx="2888933" cy="730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augmentation techniques</a:t>
            </a:r>
            <a:endParaRPr lang="en-US" sz="17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EBA6E55-65AB-99C9-18AB-98DA986E8DF3}"/>
              </a:ext>
            </a:extLst>
          </p:cNvPr>
          <p:cNvSpPr/>
          <p:nvPr/>
        </p:nvSpPr>
        <p:spPr>
          <a:xfrm>
            <a:off x="5456277" y="3778210"/>
            <a:ext cx="2888933" cy="730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Transfer learning approach</a:t>
            </a:r>
            <a:endParaRPr lang="en-US" sz="17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CB973AF-C3BF-A0EF-943A-13B27FC62913}"/>
              </a:ext>
            </a:extLst>
          </p:cNvPr>
          <p:cNvSpPr/>
          <p:nvPr/>
        </p:nvSpPr>
        <p:spPr>
          <a:xfrm>
            <a:off x="5456277" y="4588312"/>
            <a:ext cx="2888933" cy="730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Smaller training batches</a:t>
            </a:r>
            <a:endParaRPr lang="en-US" sz="17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379BD981-F26B-1979-5B13-366CFC60CE32}"/>
              </a:ext>
            </a:extLst>
          </p:cNvPr>
          <p:cNvSpPr/>
          <p:nvPr/>
        </p:nvSpPr>
        <p:spPr>
          <a:xfrm>
            <a:off x="798790" y="5775008"/>
            <a:ext cx="513517" cy="513517"/>
          </a:xfrm>
          <a:prstGeom prst="roundRect">
            <a:avLst>
              <a:gd name="adj" fmla="val 1866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B7B77C9-BDB8-7A96-D2A1-5001C41FEF67}"/>
              </a:ext>
            </a:extLst>
          </p:cNvPr>
          <p:cNvSpPr/>
          <p:nvPr/>
        </p:nvSpPr>
        <p:spPr>
          <a:xfrm>
            <a:off x="1540431" y="5853351"/>
            <a:ext cx="2852857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AD99209-619E-5B04-D313-5C4C8E86BE07}"/>
              </a:ext>
            </a:extLst>
          </p:cNvPr>
          <p:cNvSpPr/>
          <p:nvPr/>
        </p:nvSpPr>
        <p:spPr>
          <a:xfrm>
            <a:off x="1540431" y="6346865"/>
            <a:ext cx="6804779" cy="365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Datasets: Kaggle (APTOS, EyePACS)</a:t>
            </a:r>
            <a:endParaRPr lang="en-US" sz="17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9F75E12-B524-3782-7A98-466A1CC8E9A8}"/>
              </a:ext>
            </a:extLst>
          </p:cNvPr>
          <p:cNvSpPr/>
          <p:nvPr/>
        </p:nvSpPr>
        <p:spPr>
          <a:xfrm>
            <a:off x="1540431" y="6791801"/>
            <a:ext cx="6804779" cy="365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Tools: TensorFlow, Keras, OpenCV</a:t>
            </a:r>
            <a:endParaRPr lang="en-US" sz="17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950E82B-D968-B1AE-448F-24F742E898A9}"/>
              </a:ext>
            </a:extLst>
          </p:cNvPr>
          <p:cNvSpPr/>
          <p:nvPr/>
        </p:nvSpPr>
        <p:spPr>
          <a:xfrm>
            <a:off x="1540431" y="7236738"/>
            <a:ext cx="6804779" cy="365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Research papers and expert mentors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616818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401253"/>
            <a:ext cx="8405813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 and Future Work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78952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421862"/>
            <a:ext cx="615029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model achieves accurate DR classification with potential for real-world clinical deployment.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78952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Future Directions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23929" y="4421862"/>
            <a:ext cx="615029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Integrate explainability methods like Grad-CAM and deploy on mobile and web platforms for wider accessibility.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C1F9-2F9B-C618-EC3C-470AB5B4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797" y="3319462"/>
            <a:ext cx="12618720" cy="1590676"/>
          </a:xfrm>
        </p:spPr>
        <p:txBody>
          <a:bodyPr>
            <a:noAutofit/>
          </a:bodyPr>
          <a:lstStyle/>
          <a:p>
            <a:r>
              <a:rPr lang="en-IN" sz="16300" dirty="0">
                <a:solidFill>
                  <a:srgbClr val="FFC000"/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48706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523</Words>
  <Application>Microsoft Office PowerPoint</Application>
  <PresentationFormat>Custom</PresentationFormat>
  <Paragraphs>91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Calibri Light</vt:lpstr>
      <vt:lpstr>Arial</vt:lpstr>
      <vt:lpstr>Calibri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Darshan Shetty. R</cp:lastModifiedBy>
  <cp:revision>11</cp:revision>
  <dcterms:created xsi:type="dcterms:W3CDTF">2025-05-07T16:33:47Z</dcterms:created>
  <dcterms:modified xsi:type="dcterms:W3CDTF">2025-06-28T11:26:03Z</dcterms:modified>
</cp:coreProperties>
</file>